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9144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面向高中物化生的 Spring Boot 大模型题库系统设计与实现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B3EBEB"/>
                </a:solidFill>
                <a:latin typeface="Microsoft YaHei"/>
              </a:rPr>
              <a:t>RIKE 理科学习辅助系统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82296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F0F4F8"/>
                </a:solidFill>
                <a:latin typeface="Microsoft YaHei"/>
              </a:rPr>
              <a:t>本科毕业设计答辩资料
通用草稿：待套用学校答辩 PPT 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2286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2DCE6"/>
                </a:solidFill>
                <a:latin typeface="Microsoft YaHei"/>
              </a:rPr>
              <a:t>版本日期：2026-08-16｜PR #33 Draft / OPEN / 未合并｜用户最终真人复验待完成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一、研究背景与问题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高中物化生题目需要结构化管理、确定性判分和可追溯的学习反馈。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传统题库难以同时覆盖错题复习、专题学习、知识卡片和教师审核。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大模型可辅助解释与变式生成，但不能替代正式答案、权限边界和人工审核。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研究目标：在前后端分离、模块化单体架构中建立可复验的受控学习闭环。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二、研究范围与交付边界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已实现：认证与角色、题库导入审核、练习与错题、专题单元、试卷、知识卡片。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已实现：DeepSeek 文本、GLM/xAI 视觉、Web Search 的统一 Provider 契约与安全降级。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研究证据：代码、Flyway V1–V29、50 张业务表、随机临时库、匿名 Demo、正式库只做受控内容核验。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不声称：真实学校对照实验、学习成绩提升、问卷满意度、AI 学科准确率或本轮 Provider PASS。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三、总体架构：前后端分离 + 模块化单体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88920" cy="21031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7365D"/>
                </a:solidFill>
                <a:latin typeface="Microsoft YaHei"/>
              </a:rPr>
              <a:t>Vue 3
TypeScript
Element Plus
Pinia /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828800"/>
            <a:ext cx="2788920" cy="21031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7365D"/>
                </a:solidFill>
                <a:latin typeface="Microsoft YaHei"/>
              </a:rPr>
              <a:t>Spring Boot 4.1
Security + JWT
MyBatis-Plus
业务模块服务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2788920" cy="21031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7365D"/>
                </a:solidFill>
                <a:latin typeface="Microsoft YaHei"/>
              </a:rPr>
              <a:t>MySQL 8.4
Flyway V1–V29
50 张业务表
正式库 / Demo 隔离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23160"/>
            <a:ext cx="685800" cy="50292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685800" cy="50292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241280" cy="731520"/>
          </a:xfrm>
          <a:prstGeom prst="rect">
            <a:avLst/>
          </a:prstGeom>
          <a:solidFill>
            <a:srgbClr val="E8F4F1"/>
          </a:solidFill>
          <a:ln>
            <a:solidFill>
              <a:srgbClr val="E8F4F1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0">
                <a:solidFill>
                  <a:srgbClr val="232B32"/>
                </a:solidFill>
                <a:latin typeface="Microsoft YaHei"/>
              </a:rPr>
              <a:t>外部 Provider 通过统一 Core 接入；业务结果由状态机、权限检查、确定性判分和安全渲染约束。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四、学生学习闭环：从练习到再学习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828800" cy="114300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7365D"/>
                </a:solidFill>
                <a:latin typeface="Microsoft YaHei"/>
              </a:rPr>
              <a:t>题库 / 专题单元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304288"/>
            <a:ext cx="45720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2011680"/>
            <a:ext cx="1828800" cy="114300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7365D"/>
                </a:solidFill>
                <a:latin typeface="Microsoft YaHei"/>
              </a:rPr>
              <a:t>练习快照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04288"/>
            <a:ext cx="45720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9" y="2011680"/>
            <a:ext cx="1828800" cy="114300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7365D"/>
                </a:solidFill>
                <a:latin typeface="Microsoft YaHei"/>
              </a:rPr>
              <a:t>确定性判分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2304288"/>
            <a:ext cx="45720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11680"/>
            <a:ext cx="1828800" cy="114300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7365D"/>
                </a:solidFill>
                <a:latin typeface="Microsoft YaHei"/>
              </a:rPr>
              <a:t>错题筛选与再做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304288"/>
            <a:ext cx="45720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011680"/>
            <a:ext cx="1828800" cy="114300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7365D"/>
                </a:solidFill>
                <a:latin typeface="Microsoft YaHei"/>
              </a:rPr>
              <a:t>掌握度与推荐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149840" cy="914400"/>
          </a:xfrm>
          <a:prstGeom prst="rect">
            <a:avLst/>
          </a:prstGeom>
          <a:solidFill>
            <a:srgbClr val="FFF4DC"/>
          </a:solidFill>
          <a:ln>
            <a:solidFill>
              <a:srgbClr val="FFF4DC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0">
                <a:solidFill>
                  <a:srgbClr val="232B32"/>
                </a:solidFill>
                <a:latin typeface="Microsoft YaHei"/>
              </a:rPr>
              <a:t>错题列表不直接移出；答错重做保持活跃，答对后由学生确认是否归档，避免把一次操作误写成掌握。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五、AI 受控链：辅助生成，不覆盖业务事实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920240" cy="14173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365D"/>
                </a:solidFill>
                <a:latin typeface="Microsoft YaHei"/>
              </a:rPr>
              <a:t>事实输入
题目 / 答题 / 知识点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2121408"/>
            <a:ext cx="41148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9" y="1691640"/>
            <a:ext cx="1920240" cy="14173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365D"/>
                </a:solidFill>
                <a:latin typeface="Microsoft YaHei"/>
              </a:rPr>
              <a:t>Prompt + Provider
超时与安全分类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1" y="2121408"/>
            <a:ext cx="41148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91640"/>
            <a:ext cx="1920240" cy="14173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365D"/>
                </a:solidFill>
                <a:latin typeface="Microsoft YaHei"/>
              </a:rPr>
              <a:t>Schema V2
字段级 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2121408"/>
            <a:ext cx="41148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19" y="1691640"/>
            <a:ext cx="1920240" cy="1417320"/>
          </a:xfrm>
          <a:prstGeom prst="rect">
            <a:avLst/>
          </a:prstGeom>
          <a:solidFill>
            <a:srgbClr val="E1EDF5"/>
          </a:solidFill>
          <a:ln>
            <a:solidFill>
              <a:srgbClr val="E1EDF5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365D"/>
                </a:solidFill>
                <a:latin typeface="Microsoft YaHei"/>
              </a:rPr>
              <a:t>新颖度 + 判分
事务写入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2121408"/>
            <a:ext cx="411480" cy="45720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8080"/>
                </a:solidFill>
                <a:latin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691640"/>
            <a:ext cx="1920240" cy="1417320"/>
          </a:xfrm>
          <a:prstGeom prst="rect">
            <a:avLst/>
          </a:prstGeom>
          <a:solidFill>
            <a:srgbClr val="E8F4F1"/>
          </a:solidFill>
          <a:ln>
            <a:solidFill>
              <a:srgbClr val="E8F4F1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365D"/>
                </a:solidFill>
                <a:latin typeface="Microsoft YaHei"/>
              </a:rPr>
              <a:t>学生 DRAFT
提交后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149840" cy="914400"/>
          </a:xfrm>
          <a:prstGeom prst="rect">
            <a:avLst/>
          </a:prstGeom>
          <a:solidFill>
            <a:srgbClr val="FFF4DC"/>
          </a:solidFill>
          <a:ln>
            <a:solidFill>
              <a:srgbClr val="FFF4DC"/>
            </a:solidFill>
          </a:ln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232B32"/>
                </a:solidFill>
                <a:latin typeface="Microsoft YaHei"/>
              </a:rPr>
              <a:t>STANDARD 与正式判分保持确定性；reasoning_content 不进入业务 DTO、消息表或日志；教师/管理员审核是发布前最后一道边界。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六、正式数据与权限边界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正式数据库：rike_tiku；Flyway V29；50 张业务表；本轮不新增迁移。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正式内容核验：6 个已发布专题单元、18 条单元题目关系；每单元 3 道题。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高频考点：65 张已发布卡片，其中 60 张来自结构化内容源，物理/化学/生物各 10 个条目。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学生候选：本人可见 DRAFT；显式提交后才进入教师审核 PENDING；教师查询不到其他学生 DRAFT。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七、正式学生端机器证据：错题与专题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pic>
        <p:nvPicPr>
          <p:cNvPr id="5" name="Picture 4" descr="student-wrong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3035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69280"/>
            <a:ext cx="5303520" cy="32004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973"/>
                </a:solidFill>
                <a:latin typeface="Microsoft YaHei"/>
              </a:rPr>
              <a:t>错题筛选：无日期筛选、无列表直接移出</a:t>
            </a:r>
          </a:p>
        </p:txBody>
      </p:sp>
      <p:pic>
        <p:nvPicPr>
          <p:cNvPr id="7" name="Picture 6" descr="student-topic-un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30352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5669280"/>
            <a:ext cx="5303520" cy="32004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973"/>
                </a:solidFill>
                <a:latin typeface="Microsoft YaHei"/>
              </a:rPr>
              <a:t>专题单元：单元为一级入口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32B32"/>
                </a:solidFill>
                <a:latin typeface="Microsoft YaHei"/>
              </a:rPr>
              <a:t>正式浏览器：4 条路线、19 项断言、0 console/page/request error、0 横向溢出；不等同真人验收。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八、正式学生端机器证据：高频考点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pic>
        <p:nvPicPr>
          <p:cNvPr id="5" name="Picture 4" descr="student-high-frequency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49224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6492240" cy="320040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973"/>
                </a:solidFill>
                <a:latin typeface="Microsoft YaHei"/>
              </a:rPr>
              <a:t>物化生高频考点与二级结论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508760"/>
            <a:ext cx="4206240" cy="3931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32B32"/>
                </a:solidFill>
                <a:latin typeface="Microsoft YaHei"/>
              </a:defRPr>
            </a:pPr>
            <a:r>
              <a:t>入口从“知识卡片”调整为“高频考点”。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32B32"/>
                </a:solidFill>
                <a:latin typeface="Microsoft YaHei"/>
              </a:defRPr>
            </a:pPr>
            <a:r>
              <a:t>展示科学内容、公式/条件、推导、例子、易错点和记忆提示。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32B32"/>
                </a:solidFill>
                <a:latin typeface="Microsoft YaHei"/>
              </a:defRPr>
            </a:pPr>
            <a:r>
              <a:t>不伪造考试年份、频次统计或“AI 自动生成练习”承诺。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九、自动化回归与可复验环境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后端专项：39 tests，0 failures，0 errors；学生前端专项：9 files / 30 tests。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历史全量基线：后端 210 tests、前端 214 tests；最终集中全量结果以本轮回归记录为准。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前端 type-check/build 通过，build 保留已知大 chunk warning；正式数据库不作为集成测试数据源。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隔离端口：前端 18080、后端 18081；浏览器使用独立临时 profile，结束后释放端口。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十、Provider、安全与研究边界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本轮没有可安全使用的轮换后凭据；DeepSeek variant、DeepSeek tutor、GLM Vision、xAI Vision、Web Search 均为 BLOCKED_EXTERNAL_PROVIDER。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未读取、输出或复述 Key；未把 Mock/Fake 或历史窗口写成真实 PASS。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JWT、密码、Authorization、Base64、Prompt、reasoning_content 和绝对路径不进入论文截图。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论文只报告工程验证事实，不报告未经执行的真实用户效果或 Provider 学科准确率。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7365D"/>
                </a:solidFill>
                <a:latin typeface="Microsoft YaHei"/>
              </a:rPr>
              <a:t>十一、工作总结与后续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201400" cy="320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square" lIns="109728" rIns="109728" t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F6973"/>
                </a:solidFill>
                <a:latin typeface="Microsoft YaHei"/>
              </a:rPr>
              <a:t>事实截止：2026-08-16；通用答辩草稿，待套学校模板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贡献：形成覆盖题库、练习、错题、专题、卡片、试卷和受控 AI 的完整工程闭环。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方法：用 Flyway、权限边界、确定性判分、Parser、事务和匿名证据控制系统风险。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局限：缺少真实学校用户的长期对照数据；Provider 受凭据、额度和网络条件影响。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32B32"/>
                </a:solidFill>
                <a:latin typeface="Microsoft YaHei"/>
              </a:defRPr>
            </a:pPr>
            <a:r>
              <a:t>当前状态：等待用户完成最终真人验收，并由 GPT 独立审查；未获确认前不允许 ordinary merge。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RIKE 答辩 PPT（待套学校模板）</dc:title>
  <dc:subject>面向高中物化生的 Spring Boot 大模型题库系统设计与实现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